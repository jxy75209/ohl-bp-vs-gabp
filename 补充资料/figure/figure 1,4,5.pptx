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90451-EAB6-B9BF-6A88-EEC47FDC3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0DD3A9-3AE5-5C84-E7D5-9FAE44BA9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905BD3-D26A-A73A-0983-88EE2B8FB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3CA3-027F-4D44-9387-60339E8FDD86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A63B68-6363-932D-B6C6-352269BD8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7D8F5E-20EE-775D-C0A9-AED2CD58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16F97-6502-41EC-8DA1-A227F0DC51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566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1F9F9-8F9A-1E68-F75A-55650F6F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F261B2-07F3-6B27-E76E-45A7A72BD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0FBE0-E59F-0396-4D24-4B694568E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3CA3-027F-4D44-9387-60339E8FDD86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ECE9CC-674A-B8B2-9B04-BE02C8A2E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A79E1C-8B5D-53DB-5BE2-3F9F5595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16F97-6502-41EC-8DA1-A227F0DC51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388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47E34-E0C2-D2E1-E8B7-8841B6D31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5FC123-7840-71AB-7D61-24775FA20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50E63-E6F4-E303-CDB0-DAF14FC49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3CA3-027F-4D44-9387-60339E8FDD86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6B91AD-3B28-ED95-F260-D7F8C853E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204319-1B27-722A-4EC4-EC68468E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16F97-6502-41EC-8DA1-A227F0DC51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58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57057-F37F-032E-4965-62C9E34F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31036E-0DFA-4C0E-977F-7EFC18095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ED062F-712C-EC4B-948C-9A0B8F755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A7C2D8-4914-8F47-BEC2-7A3FACD82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3CA3-027F-4D44-9387-60339E8FDD86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8F8E19-D327-46C5-B47D-3B700F30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DA8E21-5D85-A007-CD35-B63CEB8B1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16F97-6502-41EC-8DA1-A227F0DC51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392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37653E-931F-8958-9894-67C1B8875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D51483-2E90-9126-F8DA-3C6538BE3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BFF08C-74F3-166F-CE63-41F3DF25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A79C1CF-55C8-6992-3473-64558BB45D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5C484F3-EC11-2353-4A92-9C7BB9EF2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17563E-78E6-2E26-9DC5-B47EFECC1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3CA3-027F-4D44-9387-60339E8FDD86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50B75F-14F1-6721-828E-BFACD25A1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C49266-19F7-3120-A7C9-EFD45296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16F97-6502-41EC-8DA1-A227F0DC51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68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E6740-A2DA-7B40-E2A3-CB2FB890F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7E5272-692C-8FEC-6B17-8B88989C0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3CA3-027F-4D44-9387-60339E8FDD86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65BA94-29A0-31B1-38E6-3E0EF989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4A094B-12F6-77FD-C9CC-8C6B6A56E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16F97-6502-41EC-8DA1-A227F0DC51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02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D1AA2F-F0A4-40F0-547C-69AB2A16F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3CA3-027F-4D44-9387-60339E8FDD86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B85330-4C13-4879-67DE-58CC0B89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5AE4A3-CBA3-1793-FD08-2C8F01C4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16F97-6502-41EC-8DA1-A227F0DC51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33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C8BC8-7AD8-33CB-92B8-D99F2C2F8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BA154E-2C31-8722-D736-67AEC66AD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047BEE-967A-86AE-ABB6-3C551A971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4CB8E7-6A46-3093-7199-4922B49E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3CA3-027F-4D44-9387-60339E8FDD86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D9CFC9-5A5D-4EF3-8F37-6592E66BC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171A0C-3447-B2E2-1E74-57B94C3F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16F97-6502-41EC-8DA1-A227F0DC51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60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22A54-3EC0-6258-3994-F1634C3B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A81CE2-46F4-D270-F07E-9CBBA6D91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D82EEB-154A-0CAA-C4DA-F432CB036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073816-D13D-D9A3-5628-C46DFAC5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3CA3-027F-4D44-9387-60339E8FDD86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288CC3-D925-B117-5892-9D4EB1A2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B9BD54-6073-A0EF-1DB2-440FD8BE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16F97-6502-41EC-8DA1-A227F0DC51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120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FAF4E-D948-C682-CC26-F52623BA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933CC7-4C13-4990-D4A6-72EF4975E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0D806F-0261-667C-7C34-66FA42A01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3CA3-027F-4D44-9387-60339E8FDD86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50ECB7-7F12-A552-BB99-A658491B4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589444-1C31-E853-5EFA-18DD3DCA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16F97-6502-41EC-8DA1-A227F0DC51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894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A8989C-8FF5-F622-BA23-C4F82B87A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917017-9369-9906-ACE2-F8138A89E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7193A3-6D2D-B4AB-745B-F1AB1A7A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43CA3-027F-4D44-9387-60339E8FDD86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9A0B8C-D1BB-FA35-B3D3-71332F7F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70E40E-CF4D-8E89-8CEB-898493145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16F97-6502-41EC-8DA1-A227F0DC51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86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195F6A-13F5-5164-7550-E88B8557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B63577-4E34-CEFB-D960-5EC031BC6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934B52-FD0E-4E77-78AB-8D1CC78DC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43CA3-027F-4D44-9387-60339E8FDD86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53FC55-8125-353E-A3A1-1E2C0BB15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C4B95B-B6EE-0875-9806-102AECBC6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16F97-6502-41EC-8DA1-A227F0DC51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19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V 形 3">
            <a:extLst>
              <a:ext uri="{FF2B5EF4-FFF2-40B4-BE49-F238E27FC236}">
                <a16:creationId xmlns:a16="http://schemas.microsoft.com/office/drawing/2014/main" id="{6DB628F3-0BA2-BBC6-4301-6A4FF5739F20}"/>
              </a:ext>
            </a:extLst>
          </p:cNvPr>
          <p:cNvSpPr/>
          <p:nvPr/>
        </p:nvSpPr>
        <p:spPr>
          <a:xfrm>
            <a:off x="1558953" y="1125930"/>
            <a:ext cx="3051782" cy="576000"/>
          </a:xfrm>
          <a:prstGeom prst="chevron">
            <a:avLst>
              <a:gd name="adj" fmla="val 51572"/>
            </a:avLst>
          </a:prstGeom>
          <a:solidFill>
            <a:srgbClr val="D9ECF3"/>
          </a:solidFill>
          <a:ln w="19050">
            <a:solidFill>
              <a:srgbClr val="848E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Indicator construction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箭头: V 形 4">
            <a:extLst>
              <a:ext uri="{FF2B5EF4-FFF2-40B4-BE49-F238E27FC236}">
                <a16:creationId xmlns:a16="http://schemas.microsoft.com/office/drawing/2014/main" id="{C453BD15-32F4-4A99-1C58-45FFDB68D361}"/>
              </a:ext>
            </a:extLst>
          </p:cNvPr>
          <p:cNvSpPr/>
          <p:nvPr/>
        </p:nvSpPr>
        <p:spPr>
          <a:xfrm>
            <a:off x="4423900" y="1125930"/>
            <a:ext cx="3344200" cy="576000"/>
          </a:xfrm>
          <a:prstGeom prst="chevron">
            <a:avLst>
              <a:gd name="adj" fmla="val 53144"/>
            </a:avLst>
          </a:prstGeom>
          <a:solidFill>
            <a:srgbClr val="FFF2CC"/>
          </a:solidFill>
          <a:ln w="19050">
            <a:solidFill>
              <a:srgbClr val="848E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design and training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61098D6F-0291-69B7-3F10-6F3C08915ABA}"/>
              </a:ext>
            </a:extLst>
          </p:cNvPr>
          <p:cNvSpPr/>
          <p:nvPr/>
        </p:nvSpPr>
        <p:spPr>
          <a:xfrm>
            <a:off x="7601663" y="1125930"/>
            <a:ext cx="3060155" cy="576000"/>
          </a:xfrm>
          <a:prstGeom prst="chevron">
            <a:avLst>
              <a:gd name="adj" fmla="val 56288"/>
            </a:avLst>
          </a:prstGeom>
          <a:solidFill>
            <a:srgbClr val="F1C8B9"/>
          </a:solidFill>
          <a:ln w="19050">
            <a:solidFill>
              <a:srgbClr val="848E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E8155A95-9282-C557-CF6F-F2351DDF952F}"/>
              </a:ext>
            </a:extLst>
          </p:cNvPr>
          <p:cNvCxnSpPr>
            <a:cxnSpLocks/>
            <a:stCxn id="50" idx="3"/>
            <a:endCxn id="17" idx="1"/>
          </p:cNvCxnSpPr>
          <p:nvPr/>
        </p:nvCxnSpPr>
        <p:spPr>
          <a:xfrm flipV="1">
            <a:off x="4235797" y="2721627"/>
            <a:ext cx="485867" cy="270773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FA13E570-1603-DB19-DD10-CDC940238313}"/>
              </a:ext>
            </a:extLst>
          </p:cNvPr>
          <p:cNvCxnSpPr>
            <a:cxnSpLocks/>
            <a:stCxn id="50" idx="3"/>
            <a:endCxn id="15" idx="1"/>
          </p:cNvCxnSpPr>
          <p:nvPr/>
        </p:nvCxnSpPr>
        <p:spPr>
          <a:xfrm flipV="1">
            <a:off x="4235797" y="5237690"/>
            <a:ext cx="494056" cy="19167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A611018D-B771-04A2-F5F2-87EB1D1E35CC}"/>
              </a:ext>
            </a:extLst>
          </p:cNvPr>
          <p:cNvCxnSpPr>
            <a:cxnSpLocks/>
            <a:stCxn id="17" idx="3"/>
            <a:endCxn id="56" idx="1"/>
          </p:cNvCxnSpPr>
          <p:nvPr/>
        </p:nvCxnSpPr>
        <p:spPr>
          <a:xfrm flipV="1">
            <a:off x="7494811" y="2661040"/>
            <a:ext cx="375247" cy="60587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CE1A2CA2-5056-5001-AFDC-B8993D95438B}"/>
              </a:ext>
            </a:extLst>
          </p:cNvPr>
          <p:cNvCxnSpPr>
            <a:cxnSpLocks/>
            <a:stCxn id="17" idx="3"/>
            <a:endCxn id="57" idx="1"/>
          </p:cNvCxnSpPr>
          <p:nvPr/>
        </p:nvCxnSpPr>
        <p:spPr>
          <a:xfrm>
            <a:off x="7494811" y="2721627"/>
            <a:ext cx="375247" cy="1218338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DE4E6DF5-4665-6330-2F2B-D6CCA20D24AA}"/>
              </a:ext>
            </a:extLst>
          </p:cNvPr>
          <p:cNvCxnSpPr>
            <a:cxnSpLocks/>
            <a:stCxn id="17" idx="3"/>
            <a:endCxn id="58" idx="1"/>
          </p:cNvCxnSpPr>
          <p:nvPr/>
        </p:nvCxnSpPr>
        <p:spPr>
          <a:xfrm>
            <a:off x="7494811" y="2721627"/>
            <a:ext cx="375247" cy="2385320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59E5F98F-680C-D6B5-61DF-57206623D32E}"/>
              </a:ext>
            </a:extLst>
          </p:cNvPr>
          <p:cNvCxnSpPr>
            <a:cxnSpLocks/>
            <a:stCxn id="15" idx="3"/>
            <a:endCxn id="58" idx="1"/>
          </p:cNvCxnSpPr>
          <p:nvPr/>
        </p:nvCxnSpPr>
        <p:spPr>
          <a:xfrm flipV="1">
            <a:off x="7494811" y="5106947"/>
            <a:ext cx="375247" cy="130743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7BAA4C5-00BC-E089-4BE6-85B5987D4F86}"/>
              </a:ext>
            </a:extLst>
          </p:cNvPr>
          <p:cNvGrpSpPr/>
          <p:nvPr/>
        </p:nvGrpSpPr>
        <p:grpSpPr>
          <a:xfrm>
            <a:off x="4610735" y="1855960"/>
            <a:ext cx="2990928" cy="3930428"/>
            <a:chOff x="3437312" y="1855960"/>
            <a:chExt cx="2990928" cy="3930428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0B3E1D2-EED7-D848-A53D-6459EE113A7F}"/>
                </a:ext>
              </a:extLst>
            </p:cNvPr>
            <p:cNvSpPr/>
            <p:nvPr/>
          </p:nvSpPr>
          <p:spPr>
            <a:xfrm>
              <a:off x="3437312" y="1855960"/>
              <a:ext cx="2990928" cy="393042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848E8D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2DBA3F6-9ED2-BE74-96FC-3F3DD5ABAB18}"/>
                </a:ext>
              </a:extLst>
            </p:cNvPr>
            <p:cNvSpPr/>
            <p:nvPr/>
          </p:nvSpPr>
          <p:spPr>
            <a:xfrm>
              <a:off x="3556430" y="4821989"/>
              <a:ext cx="2764958" cy="831402"/>
            </a:xfrm>
            <a:prstGeom prst="rect">
              <a:avLst/>
            </a:prstGeom>
            <a:solidFill>
              <a:srgbClr val="FEE192"/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18A5440-C84A-6FB0-CA8C-07FF62CD3717}"/>
                </a:ext>
              </a:extLst>
            </p:cNvPr>
            <p:cNvSpPr/>
            <p:nvPr/>
          </p:nvSpPr>
          <p:spPr>
            <a:xfrm>
              <a:off x="3548241" y="3662457"/>
              <a:ext cx="2773147" cy="972000"/>
            </a:xfrm>
            <a:prstGeom prst="rect">
              <a:avLst/>
            </a:prstGeom>
            <a:solidFill>
              <a:srgbClr val="FEE192"/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A319DE6-8E6D-2491-0378-5335E6E85765}"/>
                </a:ext>
              </a:extLst>
            </p:cNvPr>
            <p:cNvSpPr/>
            <p:nvPr/>
          </p:nvSpPr>
          <p:spPr>
            <a:xfrm>
              <a:off x="3548241" y="2004122"/>
              <a:ext cx="2773147" cy="1435010"/>
            </a:xfrm>
            <a:prstGeom prst="rect">
              <a:avLst/>
            </a:prstGeom>
            <a:solidFill>
              <a:srgbClr val="FEE192"/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91A858C-6633-F840-F9B3-C90F3D4977A6}"/>
                </a:ext>
              </a:extLst>
            </p:cNvPr>
            <p:cNvSpPr txBox="1"/>
            <p:nvPr/>
          </p:nvSpPr>
          <p:spPr>
            <a:xfrm>
              <a:off x="3659121" y="4013136"/>
              <a:ext cx="612000" cy="2616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Dataset</a:t>
              </a:r>
              <a:endPara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AB1DD18-C0B6-F64F-CED8-9F082583FF3F}"/>
                </a:ext>
              </a:extLst>
            </p:cNvPr>
            <p:cNvSpPr/>
            <p:nvPr/>
          </p:nvSpPr>
          <p:spPr>
            <a:xfrm>
              <a:off x="4995293" y="3752129"/>
              <a:ext cx="1219243" cy="360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43 training projects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14B9828-4427-ABE4-01E0-679937F2DE44}"/>
                </a:ext>
              </a:extLst>
            </p:cNvPr>
            <p:cNvSpPr/>
            <p:nvPr/>
          </p:nvSpPr>
          <p:spPr>
            <a:xfrm>
              <a:off x="4995293" y="4175754"/>
              <a:ext cx="1219243" cy="360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 test project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839A3BC-225E-C022-8D0D-BA692FE8AE06}"/>
                </a:ext>
              </a:extLst>
            </p:cNvPr>
            <p:cNvSpPr/>
            <p:nvPr/>
          </p:nvSpPr>
          <p:spPr>
            <a:xfrm>
              <a:off x="4420509" y="2006070"/>
              <a:ext cx="1024534" cy="25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BP model</a:t>
              </a:r>
              <a:endParaRPr lang="zh-CN" altLang="en-US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B1C3AB9-1A8E-AABC-194F-56B966A9BF79}"/>
                </a:ext>
              </a:extLst>
            </p:cNvPr>
            <p:cNvSpPr txBox="1"/>
            <p:nvPr/>
          </p:nvSpPr>
          <p:spPr>
            <a:xfrm>
              <a:off x="3611976" y="5111753"/>
              <a:ext cx="576000" cy="430887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Fitness</a:t>
              </a:r>
            </a:p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function</a:t>
              </a:r>
              <a:endPara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91BE756-4053-03CC-1180-8C1A58D4F086}"/>
                    </a:ext>
                  </a:extLst>
                </p:cNvPr>
                <p:cNvSpPr txBox="1"/>
                <p:nvPr/>
              </p:nvSpPr>
              <p:spPr>
                <a:xfrm>
                  <a:off x="4270536" y="5065960"/>
                  <a:ext cx="1944000" cy="238363"/>
                </a:xfrm>
                <a:prstGeom prst="roundRect">
                  <a:avLst/>
                </a:prstGeom>
                <a:solidFill>
                  <a:srgbClr val="F3F3F3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zh-CN" altLang="en-US" sz="80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zh-CN" altLang="en-US" sz="8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8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zh-CN" altLang="en-US" sz="800" i="0"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zh-CN" altLang="en-US" sz="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zh-CN" altLang="en-US" sz="8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sz="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8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zh-CN" altLang="en-US" sz="800" i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  <m:r>
                          <a:rPr lang="zh-CN" altLang="en-US" sz="800" i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zh-CN" altLang="en-US" sz="800" i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800" i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zh-CN" altLang="en-US" sz="8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func>
                          <m:funcPr>
                            <m:ctrlPr>
                              <a:rPr lang="zh-CN" altLang="en-US" sz="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zh-CN" altLang="en-US" sz="8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sz="800" i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8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8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zh-CN" altLang="en-US" sz="800" i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0B74ADD8-861C-3BF9-8F53-01E9B90553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0536" y="5065960"/>
                  <a:ext cx="1944000" cy="238363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4A99194-1DF7-7B71-BEF5-B7652D23C0B1}"/>
                    </a:ext>
                  </a:extLst>
                </p:cNvPr>
                <p:cNvSpPr txBox="1"/>
                <p:nvPr/>
              </p:nvSpPr>
              <p:spPr>
                <a:xfrm>
                  <a:off x="4270536" y="5246247"/>
                  <a:ext cx="1944000" cy="360312"/>
                </a:xfrm>
                <a:prstGeom prst="roundRect">
                  <a:avLst/>
                </a:prstGeom>
                <a:solidFill>
                  <a:srgbClr val="F3F3F3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zh-CN" altLang="en-US" sz="8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800" i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800" i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8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800" i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zh-CN" altLang="en-US" sz="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EFBA55E-54C1-CE6B-57F6-B1494AD037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0536" y="5246247"/>
                  <a:ext cx="1944000" cy="36031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27CBCFE-E5F1-13E9-B364-E8D4A2512A3E}"/>
                </a:ext>
              </a:extLst>
            </p:cNvPr>
            <p:cNvSpPr/>
            <p:nvPr/>
          </p:nvSpPr>
          <p:spPr>
            <a:xfrm>
              <a:off x="4426642" y="4857775"/>
              <a:ext cx="1024534" cy="1986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GA-BP model</a:t>
              </a:r>
              <a:endParaRPr lang="zh-CN" altLang="en-US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箭头: 上 25">
              <a:extLst>
                <a:ext uri="{FF2B5EF4-FFF2-40B4-BE49-F238E27FC236}">
                  <a16:creationId xmlns:a16="http://schemas.microsoft.com/office/drawing/2014/main" id="{9F6326BC-F1EA-1B88-BEDB-92F8A06323DC}"/>
                </a:ext>
              </a:extLst>
            </p:cNvPr>
            <p:cNvSpPr/>
            <p:nvPr/>
          </p:nvSpPr>
          <p:spPr>
            <a:xfrm>
              <a:off x="4826814" y="3401357"/>
              <a:ext cx="216000" cy="324000"/>
            </a:xfrm>
            <a:prstGeom prst="upArrow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箭头: 上 26">
              <a:extLst>
                <a:ext uri="{FF2B5EF4-FFF2-40B4-BE49-F238E27FC236}">
                  <a16:creationId xmlns:a16="http://schemas.microsoft.com/office/drawing/2014/main" id="{8B75BE37-1138-F12B-C187-3A73F0F57F2C}"/>
                </a:ext>
              </a:extLst>
            </p:cNvPr>
            <p:cNvSpPr/>
            <p:nvPr/>
          </p:nvSpPr>
          <p:spPr>
            <a:xfrm flipV="1">
              <a:off x="4826814" y="4577006"/>
              <a:ext cx="216000" cy="324000"/>
            </a:xfrm>
            <a:prstGeom prst="upArrow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8" name="连接符: 肘形 27">
              <a:extLst>
                <a:ext uri="{FF2B5EF4-FFF2-40B4-BE49-F238E27FC236}">
                  <a16:creationId xmlns:a16="http://schemas.microsoft.com/office/drawing/2014/main" id="{842F8C8D-2274-0351-8DC3-52ACCA6ABA96}"/>
                </a:ext>
              </a:extLst>
            </p:cNvPr>
            <p:cNvCxnSpPr>
              <a:cxnSpLocks/>
              <a:stCxn id="18" idx="3"/>
              <a:endCxn id="19" idx="1"/>
            </p:cNvCxnSpPr>
            <p:nvPr/>
          </p:nvCxnSpPr>
          <p:spPr>
            <a:xfrm flipV="1">
              <a:off x="4271121" y="3932129"/>
              <a:ext cx="724172" cy="211812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连接符: 肘形 28">
              <a:extLst>
                <a:ext uri="{FF2B5EF4-FFF2-40B4-BE49-F238E27FC236}">
                  <a16:creationId xmlns:a16="http://schemas.microsoft.com/office/drawing/2014/main" id="{5817CB74-9DBE-98F9-1A44-A9DC40B3A6B2}"/>
                </a:ext>
              </a:extLst>
            </p:cNvPr>
            <p:cNvCxnSpPr>
              <a:stCxn id="18" idx="3"/>
              <a:endCxn id="20" idx="1"/>
            </p:cNvCxnSpPr>
            <p:nvPr/>
          </p:nvCxnSpPr>
          <p:spPr>
            <a:xfrm>
              <a:off x="4271121" y="4143941"/>
              <a:ext cx="724172" cy="21181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ECEEC112-E7D7-EC53-03C2-5698A1BA8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02523" y="2237846"/>
              <a:ext cx="2100954" cy="1118758"/>
            </a:xfrm>
            <a:prstGeom prst="rect">
              <a:avLst/>
            </a:prstGeom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95ACB5B-DB25-EFBF-56FD-E15C41C45706}"/>
                </a:ext>
              </a:extLst>
            </p:cNvPr>
            <p:cNvSpPr txBox="1"/>
            <p:nvPr/>
          </p:nvSpPr>
          <p:spPr>
            <a:xfrm>
              <a:off x="3565780" y="3686025"/>
              <a:ext cx="11541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1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b="1" i="1" dirty="0"/>
                <a:t>44-fold LOOCV</a:t>
              </a:r>
              <a:endParaRPr lang="zh-CN" altLang="en-US" b="1" i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8132D06-57C4-4D23-90D3-CB4CB8D98A98}"/>
              </a:ext>
            </a:extLst>
          </p:cNvPr>
          <p:cNvGrpSpPr/>
          <p:nvPr/>
        </p:nvGrpSpPr>
        <p:grpSpPr>
          <a:xfrm>
            <a:off x="1558953" y="1855960"/>
            <a:ext cx="2875146" cy="3930428"/>
            <a:chOff x="385530" y="1855960"/>
            <a:chExt cx="2875146" cy="3930428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2FBF2290-6E89-0CA5-B635-F368EB3224F6}"/>
                </a:ext>
              </a:extLst>
            </p:cNvPr>
            <p:cNvSpPr/>
            <p:nvPr/>
          </p:nvSpPr>
          <p:spPr>
            <a:xfrm>
              <a:off x="385530" y="1855960"/>
              <a:ext cx="2875146" cy="3930428"/>
            </a:xfrm>
            <a:prstGeom prst="rect">
              <a:avLst/>
            </a:prstGeom>
            <a:solidFill>
              <a:srgbClr val="D9ECF3"/>
            </a:solidFill>
            <a:ln w="19050">
              <a:solidFill>
                <a:srgbClr val="848E8D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765FCC23-07EE-B0CA-ACC8-0B8F93F07971}"/>
                </a:ext>
              </a:extLst>
            </p:cNvPr>
            <p:cNvSpPr/>
            <p:nvPr/>
          </p:nvSpPr>
          <p:spPr>
            <a:xfrm>
              <a:off x="509365" y="2223900"/>
              <a:ext cx="828000" cy="360000"/>
            </a:xfrm>
            <a:prstGeom prst="rect">
              <a:avLst/>
            </a:prstGeom>
            <a:solidFill>
              <a:srgbClr val="1C63A9"/>
            </a:solidFill>
            <a:ln>
              <a:noFill/>
            </a:ln>
            <a:effectLst>
              <a:glow rad="25400">
                <a:schemeClr val="accent3">
                  <a:satMod val="175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dataset</a:t>
              </a:r>
              <a:endParaRPr lang="zh-CN" alt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C1E8F98-45FE-CD48-1665-0836DD126784}"/>
                </a:ext>
              </a:extLst>
            </p:cNvPr>
            <p:cNvSpPr/>
            <p:nvPr/>
          </p:nvSpPr>
          <p:spPr>
            <a:xfrm>
              <a:off x="1550374" y="2004122"/>
              <a:ext cx="1512000" cy="3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44 completed OHL projects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A18AA5AE-1C72-AC68-5552-180FD24E78B5}"/>
                </a:ext>
              </a:extLst>
            </p:cNvPr>
            <p:cNvSpPr/>
            <p:nvPr/>
          </p:nvSpPr>
          <p:spPr>
            <a:xfrm>
              <a:off x="1550374" y="2467728"/>
              <a:ext cx="1512000" cy="3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 candidate features </a:t>
              </a:r>
            </a:p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 Cost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78C5866-8A05-EBC1-150D-6AFB01F5C280}"/>
                </a:ext>
              </a:extLst>
            </p:cNvPr>
            <p:cNvSpPr/>
            <p:nvPr/>
          </p:nvSpPr>
          <p:spPr>
            <a:xfrm>
              <a:off x="509365" y="3111334"/>
              <a:ext cx="828000" cy="360000"/>
            </a:xfrm>
            <a:prstGeom prst="rect">
              <a:avLst/>
            </a:prstGeom>
            <a:solidFill>
              <a:srgbClr val="1C63A9"/>
            </a:solidFill>
            <a:ln>
              <a:noFill/>
            </a:ln>
            <a:effectLst>
              <a:glow rad="25400">
                <a:schemeClr val="accent3">
                  <a:satMod val="175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Expert review</a:t>
              </a:r>
              <a:endParaRPr lang="zh-CN" alt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708EB9C9-EDDA-917C-339B-584CCD9B89CD}"/>
                </a:ext>
              </a:extLst>
            </p:cNvPr>
            <p:cNvSpPr/>
            <p:nvPr/>
          </p:nvSpPr>
          <p:spPr>
            <a:xfrm>
              <a:off x="509365" y="4110492"/>
              <a:ext cx="828000" cy="360000"/>
            </a:xfrm>
            <a:prstGeom prst="rect">
              <a:avLst/>
            </a:prstGeom>
            <a:solidFill>
              <a:srgbClr val="1C63A9"/>
            </a:solidFill>
            <a:ln>
              <a:noFill/>
            </a:ln>
            <a:effectLst>
              <a:glow rad="25400">
                <a:schemeClr val="accent3">
                  <a:satMod val="175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Factor analysis</a:t>
              </a:r>
              <a:endParaRPr lang="zh-CN" alt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976EEC3-E305-FCA3-BCB0-11F3CE8B3A09}"/>
                </a:ext>
              </a:extLst>
            </p:cNvPr>
            <p:cNvSpPr/>
            <p:nvPr/>
          </p:nvSpPr>
          <p:spPr>
            <a:xfrm>
              <a:off x="1550374" y="2931334"/>
              <a:ext cx="1512000" cy="3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Expert evaluation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BB2A1DB-CA9D-4ACD-B650-FBBB4BE3CA5B}"/>
                </a:ext>
              </a:extLst>
            </p:cNvPr>
            <p:cNvSpPr/>
            <p:nvPr/>
          </p:nvSpPr>
          <p:spPr>
            <a:xfrm>
              <a:off x="1550374" y="3394940"/>
              <a:ext cx="1512000" cy="3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 → 16 features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8C9C3D8-66F7-AE67-8C01-614BD22379FC}"/>
                </a:ext>
              </a:extLst>
            </p:cNvPr>
            <p:cNvSpPr/>
            <p:nvPr/>
          </p:nvSpPr>
          <p:spPr>
            <a:xfrm>
              <a:off x="1550374" y="3858546"/>
              <a:ext cx="1512000" cy="3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Sampling adequacy test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8E289D8-9788-39C5-43CA-0CF848BA6439}"/>
                </a:ext>
              </a:extLst>
            </p:cNvPr>
            <p:cNvSpPr/>
            <p:nvPr/>
          </p:nvSpPr>
          <p:spPr>
            <a:xfrm>
              <a:off x="1550374" y="4322152"/>
              <a:ext cx="1512000" cy="3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16 → 14 features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3" name="连接符: 肘形 42">
              <a:extLst>
                <a:ext uri="{FF2B5EF4-FFF2-40B4-BE49-F238E27FC236}">
                  <a16:creationId xmlns:a16="http://schemas.microsoft.com/office/drawing/2014/main" id="{28F87A03-382F-EF16-7A6F-ACE684B8B58A}"/>
                </a:ext>
              </a:extLst>
            </p:cNvPr>
            <p:cNvCxnSpPr>
              <a:cxnSpLocks/>
              <a:stCxn id="34" idx="3"/>
              <a:endCxn id="35" idx="1"/>
            </p:cNvCxnSpPr>
            <p:nvPr/>
          </p:nvCxnSpPr>
          <p:spPr>
            <a:xfrm flipV="1">
              <a:off x="1337365" y="2184122"/>
              <a:ext cx="213009" cy="219778"/>
            </a:xfrm>
            <a:prstGeom prst="bentConnector3">
              <a:avLst/>
            </a:prstGeom>
            <a:solidFill>
              <a:srgbClr val="9DC3E7"/>
            </a:solidFill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连接符: 肘形 43">
              <a:extLst>
                <a:ext uri="{FF2B5EF4-FFF2-40B4-BE49-F238E27FC236}">
                  <a16:creationId xmlns:a16="http://schemas.microsoft.com/office/drawing/2014/main" id="{A5DA8EED-CA27-224B-3709-8D660B7A53EC}"/>
                </a:ext>
              </a:extLst>
            </p:cNvPr>
            <p:cNvCxnSpPr>
              <a:cxnSpLocks/>
              <a:stCxn id="34" idx="3"/>
              <a:endCxn id="36" idx="1"/>
            </p:cNvCxnSpPr>
            <p:nvPr/>
          </p:nvCxnSpPr>
          <p:spPr>
            <a:xfrm>
              <a:off x="1337365" y="2403900"/>
              <a:ext cx="213009" cy="243828"/>
            </a:xfrm>
            <a:prstGeom prst="bentConnector3">
              <a:avLst>
                <a:gd name="adj1" fmla="val 50000"/>
              </a:avLst>
            </a:prstGeom>
            <a:solidFill>
              <a:srgbClr val="9DC3E7"/>
            </a:solidFill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03766B81-8DBB-5958-15CB-AF139B0F3D24}"/>
                </a:ext>
              </a:extLst>
            </p:cNvPr>
            <p:cNvCxnSpPr>
              <a:cxnSpLocks/>
              <a:stCxn id="37" idx="3"/>
              <a:endCxn id="40" idx="1"/>
            </p:cNvCxnSpPr>
            <p:nvPr/>
          </p:nvCxnSpPr>
          <p:spPr>
            <a:xfrm>
              <a:off x="1337365" y="3291334"/>
              <a:ext cx="213009" cy="283606"/>
            </a:xfrm>
            <a:prstGeom prst="bentConnector3">
              <a:avLst/>
            </a:prstGeom>
            <a:solidFill>
              <a:srgbClr val="9DC3E7"/>
            </a:solidFill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连接符: 肘形 45">
              <a:extLst>
                <a:ext uri="{FF2B5EF4-FFF2-40B4-BE49-F238E27FC236}">
                  <a16:creationId xmlns:a16="http://schemas.microsoft.com/office/drawing/2014/main" id="{0411E8A3-78C6-03D1-BDAE-E8EB924F0227}"/>
                </a:ext>
              </a:extLst>
            </p:cNvPr>
            <p:cNvCxnSpPr>
              <a:cxnSpLocks/>
              <a:stCxn id="37" idx="3"/>
              <a:endCxn id="39" idx="1"/>
            </p:cNvCxnSpPr>
            <p:nvPr/>
          </p:nvCxnSpPr>
          <p:spPr>
            <a:xfrm flipV="1">
              <a:off x="1337365" y="3111334"/>
              <a:ext cx="213009" cy="180000"/>
            </a:xfrm>
            <a:prstGeom prst="bentConnector3">
              <a:avLst/>
            </a:prstGeom>
            <a:solidFill>
              <a:srgbClr val="9DC3E7"/>
            </a:solidFill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连接符: 肘形 46">
              <a:extLst>
                <a:ext uri="{FF2B5EF4-FFF2-40B4-BE49-F238E27FC236}">
                  <a16:creationId xmlns:a16="http://schemas.microsoft.com/office/drawing/2014/main" id="{B214CABA-8A78-8137-8DEF-684DAA91845C}"/>
                </a:ext>
              </a:extLst>
            </p:cNvPr>
            <p:cNvCxnSpPr>
              <a:cxnSpLocks/>
              <a:stCxn id="38" idx="3"/>
              <a:endCxn id="41" idx="1"/>
            </p:cNvCxnSpPr>
            <p:nvPr/>
          </p:nvCxnSpPr>
          <p:spPr>
            <a:xfrm flipV="1">
              <a:off x="1337365" y="4038546"/>
              <a:ext cx="213009" cy="251946"/>
            </a:xfrm>
            <a:prstGeom prst="bentConnector3">
              <a:avLst/>
            </a:prstGeom>
            <a:solidFill>
              <a:srgbClr val="9DC3E7"/>
            </a:solidFill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连接符: 肘形 47">
              <a:extLst>
                <a:ext uri="{FF2B5EF4-FFF2-40B4-BE49-F238E27FC236}">
                  <a16:creationId xmlns:a16="http://schemas.microsoft.com/office/drawing/2014/main" id="{0E990821-29D4-5E3F-5D57-ED0F7FD90AC2}"/>
                </a:ext>
              </a:extLst>
            </p:cNvPr>
            <p:cNvCxnSpPr>
              <a:cxnSpLocks/>
              <a:stCxn id="38" idx="3"/>
              <a:endCxn id="42" idx="1"/>
            </p:cNvCxnSpPr>
            <p:nvPr/>
          </p:nvCxnSpPr>
          <p:spPr>
            <a:xfrm>
              <a:off x="1337365" y="4290492"/>
              <a:ext cx="213009" cy="211660"/>
            </a:xfrm>
            <a:prstGeom prst="bentConnector3">
              <a:avLst/>
            </a:prstGeom>
            <a:solidFill>
              <a:srgbClr val="9DC3E7"/>
            </a:solidFill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B1480C2A-2C85-3B9B-D706-64A25B7305B6}"/>
                </a:ext>
              </a:extLst>
            </p:cNvPr>
            <p:cNvSpPr/>
            <p:nvPr/>
          </p:nvSpPr>
          <p:spPr>
            <a:xfrm>
              <a:off x="1550374" y="4785758"/>
              <a:ext cx="1512000" cy="3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Availability assessment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672C0326-6895-95C7-D1B7-41A4207095AD}"/>
                </a:ext>
              </a:extLst>
            </p:cNvPr>
            <p:cNvSpPr/>
            <p:nvPr/>
          </p:nvSpPr>
          <p:spPr>
            <a:xfrm>
              <a:off x="1550374" y="5249362"/>
              <a:ext cx="1512000" cy="3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14 → 7 early-stage inputs</a:t>
              </a:r>
              <a:endPara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1CEF4D30-56C2-EB94-06F4-B6B000725FB0}"/>
                </a:ext>
              </a:extLst>
            </p:cNvPr>
            <p:cNvSpPr/>
            <p:nvPr/>
          </p:nvSpPr>
          <p:spPr>
            <a:xfrm>
              <a:off x="509365" y="5002048"/>
              <a:ext cx="828000" cy="360000"/>
            </a:xfrm>
            <a:prstGeom prst="rect">
              <a:avLst/>
            </a:prstGeom>
            <a:solidFill>
              <a:srgbClr val="1C63A9"/>
            </a:solidFill>
            <a:ln>
              <a:noFill/>
            </a:ln>
            <a:effectLst>
              <a:glow rad="25400">
                <a:schemeClr val="accent3">
                  <a:satMod val="175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Early-stage availability</a:t>
              </a:r>
              <a:endParaRPr lang="zh-CN" alt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2" name="连接符: 肘形 51">
              <a:extLst>
                <a:ext uri="{FF2B5EF4-FFF2-40B4-BE49-F238E27FC236}">
                  <a16:creationId xmlns:a16="http://schemas.microsoft.com/office/drawing/2014/main" id="{05C8D50A-EDC7-8BD4-8192-F1812BB01FA8}"/>
                </a:ext>
              </a:extLst>
            </p:cNvPr>
            <p:cNvCxnSpPr>
              <a:stCxn id="51" idx="3"/>
              <a:endCxn id="49" idx="1"/>
            </p:cNvCxnSpPr>
            <p:nvPr/>
          </p:nvCxnSpPr>
          <p:spPr>
            <a:xfrm flipV="1">
              <a:off x="1337365" y="4965758"/>
              <a:ext cx="213009" cy="216290"/>
            </a:xfrm>
            <a:prstGeom prst="bentConnector3">
              <a:avLst/>
            </a:prstGeom>
            <a:solidFill>
              <a:srgbClr val="9DC3E7"/>
            </a:solidFill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连接符: 肘形 52">
              <a:extLst>
                <a:ext uri="{FF2B5EF4-FFF2-40B4-BE49-F238E27FC236}">
                  <a16:creationId xmlns:a16="http://schemas.microsoft.com/office/drawing/2014/main" id="{122579B7-34B0-5C98-FC4C-35C99992F1E5}"/>
                </a:ext>
              </a:extLst>
            </p:cNvPr>
            <p:cNvCxnSpPr>
              <a:stCxn id="51" idx="3"/>
              <a:endCxn id="50" idx="1"/>
            </p:cNvCxnSpPr>
            <p:nvPr/>
          </p:nvCxnSpPr>
          <p:spPr>
            <a:xfrm>
              <a:off x="1337365" y="5182048"/>
              <a:ext cx="213009" cy="247314"/>
            </a:xfrm>
            <a:prstGeom prst="bentConnector3">
              <a:avLst/>
            </a:prstGeom>
            <a:solidFill>
              <a:srgbClr val="9DC3E7"/>
            </a:solidFill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77E2DC5-DA1A-0B2E-A074-CC2C25C2C941}"/>
              </a:ext>
            </a:extLst>
          </p:cNvPr>
          <p:cNvGrpSpPr/>
          <p:nvPr/>
        </p:nvGrpSpPr>
        <p:grpSpPr>
          <a:xfrm>
            <a:off x="7778300" y="1855959"/>
            <a:ext cx="2883517" cy="3930428"/>
            <a:chOff x="6604877" y="1855959"/>
            <a:chExt cx="2883517" cy="3930428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9C452327-C13E-7FB5-7A1F-22D29003D33C}"/>
                </a:ext>
              </a:extLst>
            </p:cNvPr>
            <p:cNvSpPr/>
            <p:nvPr/>
          </p:nvSpPr>
          <p:spPr>
            <a:xfrm>
              <a:off x="6604877" y="1855959"/>
              <a:ext cx="2883517" cy="3930428"/>
            </a:xfrm>
            <a:prstGeom prst="rect">
              <a:avLst/>
            </a:prstGeom>
            <a:solidFill>
              <a:srgbClr val="F1C8B9"/>
            </a:solidFill>
            <a:ln w="19050">
              <a:solidFill>
                <a:srgbClr val="848E8D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581F8F27-9C0B-BFC6-5ADC-C9283797618D}"/>
                </a:ext>
              </a:extLst>
            </p:cNvPr>
            <p:cNvSpPr/>
            <p:nvPr/>
          </p:nvSpPr>
          <p:spPr>
            <a:xfrm>
              <a:off x="6696635" y="2004121"/>
              <a:ext cx="2700000" cy="1313838"/>
            </a:xfrm>
            <a:prstGeom prst="rect">
              <a:avLst/>
            </a:prstGeom>
            <a:solidFill>
              <a:srgbClr val="E44F30">
                <a:alpha val="48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656FED55-4E56-63A1-97E8-0878A716E1DC}"/>
                </a:ext>
              </a:extLst>
            </p:cNvPr>
            <p:cNvSpPr/>
            <p:nvPr/>
          </p:nvSpPr>
          <p:spPr>
            <a:xfrm>
              <a:off x="6696635" y="3401357"/>
              <a:ext cx="2700000" cy="1077216"/>
            </a:xfrm>
            <a:prstGeom prst="rect">
              <a:avLst/>
            </a:prstGeom>
            <a:solidFill>
              <a:srgbClr val="E44F30">
                <a:alpha val="48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AD2813E3-3CA3-3103-321B-56C0132A0F4F}"/>
                </a:ext>
              </a:extLst>
            </p:cNvPr>
            <p:cNvSpPr/>
            <p:nvPr/>
          </p:nvSpPr>
          <p:spPr>
            <a:xfrm>
              <a:off x="6696635" y="4560502"/>
              <a:ext cx="2700000" cy="1092889"/>
            </a:xfrm>
            <a:prstGeom prst="rect">
              <a:avLst/>
            </a:prstGeom>
            <a:solidFill>
              <a:srgbClr val="E44F30">
                <a:alpha val="48000"/>
              </a:srgb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712E919B-9F26-712A-5CCF-9F0392744CB1}"/>
                </a:ext>
              </a:extLst>
            </p:cNvPr>
            <p:cNvSpPr/>
            <p:nvPr/>
          </p:nvSpPr>
          <p:spPr>
            <a:xfrm>
              <a:off x="7002635" y="2044109"/>
              <a:ext cx="2088000" cy="252000"/>
            </a:xfrm>
            <a:prstGeom prst="rect">
              <a:avLst/>
            </a:prstGeom>
            <a:solidFill>
              <a:srgbClr val="B81F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Prediction accuracy</a:t>
              </a:r>
              <a:endParaRPr lang="zh-CN" alt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ADB397B4-7C2C-904B-A918-8A1C0CC20213}"/>
                </a:ext>
              </a:extLst>
            </p:cNvPr>
            <p:cNvSpPr txBox="1"/>
            <p:nvPr/>
          </p:nvSpPr>
          <p:spPr>
            <a:xfrm>
              <a:off x="6766019" y="3782551"/>
              <a:ext cx="940794" cy="430887"/>
            </a:xfrm>
            <a:prstGeom prst="rect">
              <a:avLst/>
            </a:prstGeom>
            <a:solidFill>
              <a:srgbClr val="B81F2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Underestimation risk</a:t>
              </a:r>
              <a:endParaRPr lang="zh-CN" alt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023D11B7-9484-2E4B-1BDB-CCE734416C46}"/>
                </a:ext>
              </a:extLst>
            </p:cNvPr>
            <p:cNvSpPr txBox="1"/>
            <p:nvPr/>
          </p:nvSpPr>
          <p:spPr>
            <a:xfrm>
              <a:off x="6766018" y="4954968"/>
              <a:ext cx="468000" cy="215444"/>
            </a:xfrm>
            <a:prstGeom prst="rect">
              <a:avLst/>
            </a:prstGeom>
            <a:solidFill>
              <a:srgbClr val="B81F2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SHAP</a:t>
              </a:r>
              <a:endParaRPr lang="zh-CN" altLang="en-US" sz="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52E20F8C-4B9B-1821-5F8C-5D979B141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2136" y="4599866"/>
              <a:ext cx="2030498" cy="100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BF88620D-037C-325A-8F98-62FB0BCA0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728863" y="3466254"/>
              <a:ext cx="1611674" cy="955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67103FD0-8EAF-17ED-0237-6878A8A7B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6962227" y="2339642"/>
              <a:ext cx="2168816" cy="91516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932254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8B4571B-6468-24B1-82A5-E6289539466D}"/>
              </a:ext>
            </a:extLst>
          </p:cNvPr>
          <p:cNvGrpSpPr/>
          <p:nvPr/>
        </p:nvGrpSpPr>
        <p:grpSpPr>
          <a:xfrm>
            <a:off x="3659941" y="2169000"/>
            <a:ext cx="4872117" cy="2520000"/>
            <a:chOff x="1849830" y="2169000"/>
            <a:chExt cx="4872117" cy="252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2F1D58A8-ED8C-7EC6-06C0-031DCB465E3D}"/>
                </a:ext>
              </a:extLst>
            </p:cNvPr>
            <p:cNvSpPr/>
            <p:nvPr/>
          </p:nvSpPr>
          <p:spPr>
            <a:xfrm>
              <a:off x="2684863" y="2169000"/>
              <a:ext cx="684000" cy="2520000"/>
            </a:xfrm>
            <a:prstGeom prst="roundRect">
              <a:avLst>
                <a:gd name="adj" fmla="val 22237"/>
              </a:avLst>
            </a:prstGeom>
            <a:solidFill>
              <a:srgbClr val="F2F5F1"/>
            </a:solidFill>
            <a:ln>
              <a:noFill/>
              <a:prstDash val="sysDash"/>
            </a:ln>
            <a:effectLst>
              <a:outerShdw blurRad="38100" dist="12700" dir="2700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3"/>
            </a:p>
          </p:txBody>
        </p:sp>
        <p:sp>
          <p:nvSpPr>
            <p:cNvPr id="6" name="流程图: 接点 5">
              <a:extLst>
                <a:ext uri="{FF2B5EF4-FFF2-40B4-BE49-F238E27FC236}">
                  <a16:creationId xmlns:a16="http://schemas.microsoft.com/office/drawing/2014/main" id="{5668A8FC-5B77-D562-C8E9-5CB3D2509263}"/>
                </a:ext>
              </a:extLst>
            </p:cNvPr>
            <p:cNvSpPr/>
            <p:nvPr/>
          </p:nvSpPr>
          <p:spPr>
            <a:xfrm>
              <a:off x="2847310" y="2478824"/>
              <a:ext cx="360000" cy="360000"/>
            </a:xfrm>
            <a:prstGeom prst="flowChartConnector">
              <a:avLst/>
            </a:prstGeom>
            <a:solidFill>
              <a:srgbClr val="B81F29"/>
            </a:solidFill>
            <a:ln>
              <a:noFill/>
            </a:ln>
            <a:effectLst>
              <a:outerShdw blurRad="127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3"/>
            </a:p>
          </p:txBody>
        </p:sp>
        <p:sp>
          <p:nvSpPr>
            <p:cNvPr id="7" name="流程图: 接点 6">
              <a:extLst>
                <a:ext uri="{FF2B5EF4-FFF2-40B4-BE49-F238E27FC236}">
                  <a16:creationId xmlns:a16="http://schemas.microsoft.com/office/drawing/2014/main" id="{478633EA-DD44-1662-A06B-4BBAB51B20AC}"/>
                </a:ext>
              </a:extLst>
            </p:cNvPr>
            <p:cNvSpPr/>
            <p:nvPr/>
          </p:nvSpPr>
          <p:spPr>
            <a:xfrm>
              <a:off x="2847310" y="2992920"/>
              <a:ext cx="360000" cy="360000"/>
            </a:xfrm>
            <a:prstGeom prst="flowChartConnector">
              <a:avLst/>
            </a:prstGeom>
            <a:solidFill>
              <a:srgbClr val="B81F29"/>
            </a:solidFill>
            <a:ln>
              <a:noFill/>
            </a:ln>
            <a:effectLst>
              <a:outerShdw blurRad="127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3"/>
            </a:p>
          </p:txBody>
        </p:sp>
        <p:sp>
          <p:nvSpPr>
            <p:cNvPr id="8" name="流程图: 接点 7">
              <a:extLst>
                <a:ext uri="{FF2B5EF4-FFF2-40B4-BE49-F238E27FC236}">
                  <a16:creationId xmlns:a16="http://schemas.microsoft.com/office/drawing/2014/main" id="{2D57FF2E-6E2B-5948-AA7A-64573A655E9D}"/>
                </a:ext>
              </a:extLst>
            </p:cNvPr>
            <p:cNvSpPr/>
            <p:nvPr/>
          </p:nvSpPr>
          <p:spPr>
            <a:xfrm>
              <a:off x="2847310" y="3497631"/>
              <a:ext cx="360000" cy="360000"/>
            </a:xfrm>
            <a:prstGeom prst="flowChartConnector">
              <a:avLst/>
            </a:prstGeom>
            <a:solidFill>
              <a:srgbClr val="B81F29"/>
            </a:solidFill>
            <a:ln>
              <a:noFill/>
            </a:ln>
            <a:effectLst>
              <a:outerShdw blurRad="127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3"/>
            </a:p>
          </p:txBody>
        </p:sp>
        <p:sp>
          <p:nvSpPr>
            <p:cNvPr id="9" name="流程图: 接点 8">
              <a:extLst>
                <a:ext uri="{FF2B5EF4-FFF2-40B4-BE49-F238E27FC236}">
                  <a16:creationId xmlns:a16="http://schemas.microsoft.com/office/drawing/2014/main" id="{A587C62A-C6B9-230F-AA31-DABE620D9D79}"/>
                </a:ext>
              </a:extLst>
            </p:cNvPr>
            <p:cNvSpPr/>
            <p:nvPr/>
          </p:nvSpPr>
          <p:spPr>
            <a:xfrm>
              <a:off x="2847310" y="4009936"/>
              <a:ext cx="360000" cy="360000"/>
            </a:xfrm>
            <a:prstGeom prst="flowChartConnector">
              <a:avLst/>
            </a:prstGeom>
            <a:solidFill>
              <a:srgbClr val="B81F29"/>
            </a:solidFill>
            <a:ln>
              <a:noFill/>
            </a:ln>
            <a:effectLst>
              <a:outerShdw blurRad="127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3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F541A01-BA7D-E880-0A59-F7F8BB2052E8}"/>
                </a:ext>
              </a:extLst>
            </p:cNvPr>
            <p:cNvSpPr txBox="1"/>
            <p:nvPr/>
          </p:nvSpPr>
          <p:spPr>
            <a:xfrm>
              <a:off x="1849830" y="2555021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1</a:t>
              </a:r>
              <a:endPara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97C09E1-1DEE-D1B7-AFFD-E856D2D21931}"/>
                </a:ext>
              </a:extLst>
            </p:cNvPr>
            <p:cNvSpPr txBox="1"/>
            <p:nvPr/>
          </p:nvSpPr>
          <p:spPr>
            <a:xfrm>
              <a:off x="1849830" y="3065198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2</a:t>
              </a:r>
              <a:endPara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3A87540-BF5A-3441-C319-8D6F4936714B}"/>
                </a:ext>
              </a:extLst>
            </p:cNvPr>
            <p:cNvSpPr txBox="1"/>
            <p:nvPr/>
          </p:nvSpPr>
          <p:spPr>
            <a:xfrm>
              <a:off x="1849830" y="4082214"/>
              <a:ext cx="648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7</a:t>
              </a:r>
              <a:endPara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2F4B1D3-BD3D-746C-BA06-CD737A945EF8}"/>
                </a:ext>
              </a:extLst>
            </p:cNvPr>
            <p:cNvSpPr txBox="1"/>
            <p:nvPr/>
          </p:nvSpPr>
          <p:spPr>
            <a:xfrm>
              <a:off x="1849830" y="3492965"/>
              <a:ext cx="64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rPr>
                <a:t>…</a:t>
              </a:r>
              <a:endParaRPr lang="zh-CN" altLang="en-US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32F1D7A-F5C4-C525-2AA0-067516D51316}"/>
                </a:ext>
              </a:extLst>
            </p:cNvPr>
            <p:cNvSpPr/>
            <p:nvPr/>
          </p:nvSpPr>
          <p:spPr>
            <a:xfrm>
              <a:off x="3957370" y="2169000"/>
              <a:ext cx="828000" cy="2520000"/>
            </a:xfrm>
            <a:prstGeom prst="roundRect">
              <a:avLst>
                <a:gd name="adj" fmla="val 8825"/>
              </a:avLst>
            </a:prstGeom>
            <a:solidFill>
              <a:srgbClr val="F2F5F1"/>
            </a:solidFill>
            <a:ln>
              <a:noFill/>
              <a:prstDash val="sysDash"/>
            </a:ln>
            <a:effectLst>
              <a:outerShdw blurRad="38100" dist="12700" dir="2700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3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A1709E9-B08C-3741-F18B-B31856EAAE2D}"/>
                </a:ext>
              </a:extLst>
            </p:cNvPr>
            <p:cNvSpPr/>
            <p:nvPr/>
          </p:nvSpPr>
          <p:spPr>
            <a:xfrm>
              <a:off x="4201807" y="2478824"/>
              <a:ext cx="360000" cy="360000"/>
            </a:xfrm>
            <a:prstGeom prst="ellipse">
              <a:avLst/>
            </a:prstGeom>
            <a:solidFill>
              <a:srgbClr val="FBAD60"/>
            </a:solidFill>
            <a:ln>
              <a:noFill/>
            </a:ln>
            <a:effectLst>
              <a:outerShdw blurRad="127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3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EDFFE38-5B45-791C-C0FF-BB4C0D0D811C}"/>
                </a:ext>
              </a:extLst>
            </p:cNvPr>
            <p:cNvSpPr/>
            <p:nvPr/>
          </p:nvSpPr>
          <p:spPr>
            <a:xfrm>
              <a:off x="4201807" y="2992920"/>
              <a:ext cx="360000" cy="360000"/>
            </a:xfrm>
            <a:prstGeom prst="ellipse">
              <a:avLst/>
            </a:prstGeom>
            <a:solidFill>
              <a:srgbClr val="FBAD60"/>
            </a:solidFill>
            <a:ln>
              <a:noFill/>
            </a:ln>
            <a:effectLst>
              <a:outerShdw blurRad="127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3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9B301376-1FA3-A18A-2681-75A7A9550320}"/>
                </a:ext>
              </a:extLst>
            </p:cNvPr>
            <p:cNvSpPr/>
            <p:nvPr/>
          </p:nvSpPr>
          <p:spPr>
            <a:xfrm>
              <a:off x="4201807" y="3497631"/>
              <a:ext cx="360000" cy="360000"/>
            </a:xfrm>
            <a:prstGeom prst="ellipse">
              <a:avLst/>
            </a:prstGeom>
            <a:solidFill>
              <a:srgbClr val="FBAD60"/>
            </a:solidFill>
            <a:ln>
              <a:noFill/>
            </a:ln>
            <a:effectLst>
              <a:outerShdw blurRad="127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3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DC430933-A01C-2DB6-4B04-A3E332D4EDFC}"/>
                </a:ext>
              </a:extLst>
            </p:cNvPr>
            <p:cNvSpPr/>
            <p:nvPr/>
          </p:nvSpPr>
          <p:spPr>
            <a:xfrm>
              <a:off x="4201807" y="4009936"/>
              <a:ext cx="360000" cy="360000"/>
            </a:xfrm>
            <a:prstGeom prst="ellipse">
              <a:avLst/>
            </a:prstGeom>
            <a:solidFill>
              <a:srgbClr val="FBAD60"/>
            </a:solidFill>
            <a:ln>
              <a:noFill/>
            </a:ln>
            <a:effectLst>
              <a:outerShdw blurRad="127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3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B6971598-2FCB-4932-B697-2226D359F151}"/>
                </a:ext>
              </a:extLst>
            </p:cNvPr>
            <p:cNvSpPr/>
            <p:nvPr/>
          </p:nvSpPr>
          <p:spPr>
            <a:xfrm>
              <a:off x="5295877" y="2931956"/>
              <a:ext cx="822804" cy="984303"/>
            </a:xfrm>
            <a:prstGeom prst="roundRect">
              <a:avLst/>
            </a:prstGeom>
            <a:solidFill>
              <a:srgbClr val="F2F5F1"/>
            </a:solidFill>
            <a:ln>
              <a:noFill/>
              <a:prstDash val="sysDash"/>
            </a:ln>
            <a:effectLst>
              <a:outerShdw blurRad="38100" dist="12700" dir="2700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3"/>
            </a:p>
          </p:txBody>
        </p:sp>
        <p:sp>
          <p:nvSpPr>
            <p:cNvPr id="20" name="流程图: 接点 19">
              <a:extLst>
                <a:ext uri="{FF2B5EF4-FFF2-40B4-BE49-F238E27FC236}">
                  <a16:creationId xmlns:a16="http://schemas.microsoft.com/office/drawing/2014/main" id="{93FA1B43-FA91-73B5-CE75-0B28BC199438}"/>
                </a:ext>
              </a:extLst>
            </p:cNvPr>
            <p:cNvSpPr/>
            <p:nvPr/>
          </p:nvSpPr>
          <p:spPr>
            <a:xfrm>
              <a:off x="5527279" y="3267677"/>
              <a:ext cx="360000" cy="360000"/>
            </a:xfrm>
            <a:prstGeom prst="flowChartConnector">
              <a:avLst/>
            </a:prstGeom>
            <a:solidFill>
              <a:srgbClr val="1D64A6"/>
            </a:solidFill>
            <a:ln>
              <a:noFill/>
            </a:ln>
            <a:effectLst>
              <a:outerShdw blurRad="127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63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7E6E914-A1A3-372C-072F-83754C6E42F6}"/>
                </a:ext>
              </a:extLst>
            </p:cNvPr>
            <p:cNvSpPr txBox="1"/>
            <p:nvPr/>
          </p:nvSpPr>
          <p:spPr>
            <a:xfrm>
              <a:off x="6288911" y="3339955"/>
              <a:ext cx="43303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</a:t>
              </a:r>
              <a:endPara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070DA8A6-566C-6F4B-9295-E13A7D46094E}"/>
                </a:ext>
              </a:extLst>
            </p:cNvPr>
            <p:cNvCxnSpPr>
              <a:cxnSpLocks/>
              <a:stCxn id="6" idx="6"/>
              <a:endCxn id="53" idx="1"/>
            </p:cNvCxnSpPr>
            <p:nvPr/>
          </p:nvCxnSpPr>
          <p:spPr>
            <a:xfrm flipV="1">
              <a:off x="3207310" y="2654009"/>
              <a:ext cx="940497" cy="4815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ADF83FD5-C049-123A-0FD9-88986E9A7BF5}"/>
                </a:ext>
              </a:extLst>
            </p:cNvPr>
            <p:cNvCxnSpPr>
              <a:cxnSpLocks/>
              <a:stCxn id="6" idx="6"/>
              <a:endCxn id="55" idx="1"/>
            </p:cNvCxnSpPr>
            <p:nvPr/>
          </p:nvCxnSpPr>
          <p:spPr>
            <a:xfrm>
              <a:off x="3207310" y="2658824"/>
              <a:ext cx="940497" cy="516956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96EFFD29-0299-E55A-B909-F839EE059E2F}"/>
                </a:ext>
              </a:extLst>
            </p:cNvPr>
            <p:cNvCxnSpPr>
              <a:cxnSpLocks/>
              <a:stCxn id="6" idx="6"/>
              <a:endCxn id="56" idx="1"/>
            </p:cNvCxnSpPr>
            <p:nvPr/>
          </p:nvCxnSpPr>
          <p:spPr>
            <a:xfrm>
              <a:off x="3207310" y="2658824"/>
              <a:ext cx="936053" cy="1021027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606EED43-03AF-C440-2E4D-D3BD3B51C33A}"/>
                </a:ext>
              </a:extLst>
            </p:cNvPr>
            <p:cNvCxnSpPr>
              <a:cxnSpLocks/>
              <a:stCxn id="6" idx="6"/>
              <a:endCxn id="54" idx="1"/>
            </p:cNvCxnSpPr>
            <p:nvPr/>
          </p:nvCxnSpPr>
          <p:spPr>
            <a:xfrm>
              <a:off x="3207310" y="2658824"/>
              <a:ext cx="940497" cy="1534977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9E0CC452-9341-C406-7C46-83FA95D16A68}"/>
                </a:ext>
              </a:extLst>
            </p:cNvPr>
            <p:cNvCxnSpPr>
              <a:cxnSpLocks/>
              <a:stCxn id="7" idx="6"/>
              <a:endCxn id="53" idx="1"/>
            </p:cNvCxnSpPr>
            <p:nvPr/>
          </p:nvCxnSpPr>
          <p:spPr>
            <a:xfrm flipV="1">
              <a:off x="3207310" y="2654009"/>
              <a:ext cx="940497" cy="518911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AE085F34-FF4B-4E4D-4599-68AFA7194FFE}"/>
                </a:ext>
              </a:extLst>
            </p:cNvPr>
            <p:cNvCxnSpPr>
              <a:cxnSpLocks/>
              <a:stCxn id="7" idx="6"/>
              <a:endCxn id="55" idx="1"/>
            </p:cNvCxnSpPr>
            <p:nvPr/>
          </p:nvCxnSpPr>
          <p:spPr>
            <a:xfrm>
              <a:off x="3207310" y="3172920"/>
              <a:ext cx="940497" cy="2860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D5D3023-EA5E-CA83-790C-8124742E7421}"/>
                </a:ext>
              </a:extLst>
            </p:cNvPr>
            <p:cNvCxnSpPr>
              <a:cxnSpLocks/>
              <a:stCxn id="7" idx="6"/>
              <a:endCxn id="56" idx="1"/>
            </p:cNvCxnSpPr>
            <p:nvPr/>
          </p:nvCxnSpPr>
          <p:spPr>
            <a:xfrm>
              <a:off x="3207310" y="3172920"/>
              <a:ext cx="936053" cy="506931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E385B51-8B75-350C-69DD-C78405ED1410}"/>
                </a:ext>
              </a:extLst>
            </p:cNvPr>
            <p:cNvCxnSpPr>
              <a:cxnSpLocks/>
              <a:stCxn id="7" idx="6"/>
              <a:endCxn id="54" idx="1"/>
            </p:cNvCxnSpPr>
            <p:nvPr/>
          </p:nvCxnSpPr>
          <p:spPr>
            <a:xfrm>
              <a:off x="3207310" y="3172920"/>
              <a:ext cx="940497" cy="1020881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50FB694-F3F1-3BAE-D6AC-E3B01B105803}"/>
                </a:ext>
              </a:extLst>
            </p:cNvPr>
            <p:cNvCxnSpPr>
              <a:cxnSpLocks/>
              <a:stCxn id="8" idx="6"/>
              <a:endCxn id="53" idx="1"/>
            </p:cNvCxnSpPr>
            <p:nvPr/>
          </p:nvCxnSpPr>
          <p:spPr>
            <a:xfrm flipV="1">
              <a:off x="3207310" y="2654009"/>
              <a:ext cx="940497" cy="1023622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325ECAD3-1A69-9C1A-A42B-44BBDA73863C}"/>
                </a:ext>
              </a:extLst>
            </p:cNvPr>
            <p:cNvCxnSpPr>
              <a:cxnSpLocks/>
              <a:stCxn id="8" idx="6"/>
              <a:endCxn id="55" idx="1"/>
            </p:cNvCxnSpPr>
            <p:nvPr/>
          </p:nvCxnSpPr>
          <p:spPr>
            <a:xfrm flipV="1">
              <a:off x="3207310" y="3175780"/>
              <a:ext cx="940497" cy="501851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8512BF7-007A-01E2-8234-462C05F798B4}"/>
                </a:ext>
              </a:extLst>
            </p:cNvPr>
            <p:cNvCxnSpPr>
              <a:cxnSpLocks/>
              <a:stCxn id="8" idx="6"/>
              <a:endCxn id="56" idx="1"/>
            </p:cNvCxnSpPr>
            <p:nvPr/>
          </p:nvCxnSpPr>
          <p:spPr>
            <a:xfrm>
              <a:off x="3207310" y="3677631"/>
              <a:ext cx="936053" cy="2220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021E5B0-529E-CBF7-0F1E-7A9F1D67CE99}"/>
                </a:ext>
              </a:extLst>
            </p:cNvPr>
            <p:cNvCxnSpPr>
              <a:cxnSpLocks/>
              <a:stCxn id="8" idx="6"/>
              <a:endCxn id="54" idx="1"/>
            </p:cNvCxnSpPr>
            <p:nvPr/>
          </p:nvCxnSpPr>
          <p:spPr>
            <a:xfrm>
              <a:off x="3207310" y="3677631"/>
              <a:ext cx="940497" cy="516170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357A5EAB-2F40-AF07-E7C0-1D3332C46B66}"/>
                </a:ext>
              </a:extLst>
            </p:cNvPr>
            <p:cNvCxnSpPr>
              <a:cxnSpLocks/>
              <a:stCxn id="9" idx="6"/>
              <a:endCxn id="54" idx="1"/>
            </p:cNvCxnSpPr>
            <p:nvPr/>
          </p:nvCxnSpPr>
          <p:spPr>
            <a:xfrm>
              <a:off x="3207310" y="4189936"/>
              <a:ext cx="940497" cy="3865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A88D4FB1-D122-9313-8C3F-65693270DF64}"/>
                </a:ext>
              </a:extLst>
            </p:cNvPr>
            <p:cNvCxnSpPr>
              <a:cxnSpLocks/>
              <a:stCxn id="9" idx="6"/>
              <a:endCxn id="53" idx="1"/>
            </p:cNvCxnSpPr>
            <p:nvPr/>
          </p:nvCxnSpPr>
          <p:spPr>
            <a:xfrm flipV="1">
              <a:off x="3207310" y="2654009"/>
              <a:ext cx="940497" cy="1535927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AE7D23D1-87BE-46EA-F08D-B064A4DF8B8B}"/>
                </a:ext>
              </a:extLst>
            </p:cNvPr>
            <p:cNvCxnSpPr>
              <a:cxnSpLocks/>
              <a:stCxn id="9" idx="6"/>
              <a:endCxn id="55" idx="1"/>
            </p:cNvCxnSpPr>
            <p:nvPr/>
          </p:nvCxnSpPr>
          <p:spPr>
            <a:xfrm flipV="1">
              <a:off x="3207310" y="3175780"/>
              <a:ext cx="940497" cy="1014156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62F2B6B9-73E8-7AF2-99B7-5BAFD4349322}"/>
                </a:ext>
              </a:extLst>
            </p:cNvPr>
            <p:cNvCxnSpPr>
              <a:cxnSpLocks/>
              <a:stCxn id="9" idx="6"/>
              <a:endCxn id="56" idx="1"/>
            </p:cNvCxnSpPr>
            <p:nvPr/>
          </p:nvCxnSpPr>
          <p:spPr>
            <a:xfrm flipV="1">
              <a:off x="3207310" y="3679851"/>
              <a:ext cx="936053" cy="510085"/>
            </a:xfrm>
            <a:prstGeom prst="line">
              <a:avLst/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777273C1-0823-9D4A-F9E3-66405EF78D1F}"/>
                </a:ext>
              </a:extLst>
            </p:cNvPr>
            <p:cNvCxnSpPr>
              <a:cxnSpLocks/>
              <a:stCxn id="15" idx="6"/>
              <a:endCxn id="20" idx="2"/>
            </p:cNvCxnSpPr>
            <p:nvPr/>
          </p:nvCxnSpPr>
          <p:spPr>
            <a:xfrm>
              <a:off x="4561807" y="2658824"/>
              <a:ext cx="965472" cy="788853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E63058B-ACBA-2371-98F0-5D1812B8F960}"/>
                </a:ext>
              </a:extLst>
            </p:cNvPr>
            <p:cNvCxnSpPr>
              <a:cxnSpLocks/>
              <a:stCxn id="16" idx="6"/>
              <a:endCxn id="20" idx="2"/>
            </p:cNvCxnSpPr>
            <p:nvPr/>
          </p:nvCxnSpPr>
          <p:spPr>
            <a:xfrm>
              <a:off x="4561807" y="3172920"/>
              <a:ext cx="965472" cy="274757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19C1E9CA-9FA9-4E32-9E78-BA5F25B0F4E3}"/>
                </a:ext>
              </a:extLst>
            </p:cNvPr>
            <p:cNvCxnSpPr>
              <a:cxnSpLocks/>
              <a:stCxn id="17" idx="6"/>
              <a:endCxn id="20" idx="2"/>
            </p:cNvCxnSpPr>
            <p:nvPr/>
          </p:nvCxnSpPr>
          <p:spPr>
            <a:xfrm flipV="1">
              <a:off x="4561807" y="3447677"/>
              <a:ext cx="965472" cy="229954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8623EE91-FDED-E9EA-CC46-94FD64A9CDCF}"/>
                </a:ext>
              </a:extLst>
            </p:cNvPr>
            <p:cNvCxnSpPr>
              <a:cxnSpLocks/>
              <a:stCxn id="18" idx="6"/>
              <a:endCxn id="20" idx="2"/>
            </p:cNvCxnSpPr>
            <p:nvPr/>
          </p:nvCxnSpPr>
          <p:spPr>
            <a:xfrm flipV="1">
              <a:off x="4561807" y="3447677"/>
              <a:ext cx="965472" cy="742259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9EB5B6D4-7DAF-1195-4742-B0BC6DA72B0F}"/>
                </a:ext>
              </a:extLst>
            </p:cNvPr>
            <p:cNvSpPr txBox="1"/>
            <p:nvPr/>
          </p:nvSpPr>
          <p:spPr>
            <a:xfrm>
              <a:off x="2605360" y="2215227"/>
              <a:ext cx="86874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 layer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A01BACB-50B4-1F21-9BDF-CEE38FAA621D}"/>
                </a:ext>
              </a:extLst>
            </p:cNvPr>
            <p:cNvSpPr txBox="1"/>
            <p:nvPr/>
          </p:nvSpPr>
          <p:spPr>
            <a:xfrm>
              <a:off x="3776848" y="2225478"/>
              <a:ext cx="12099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Hidden layer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69446CB-58D4-380E-5CF3-76B458925A5F}"/>
                </a:ext>
              </a:extLst>
            </p:cNvPr>
            <p:cNvSpPr txBox="1"/>
            <p:nvPr/>
          </p:nvSpPr>
          <p:spPr>
            <a:xfrm>
              <a:off x="5229880" y="2983560"/>
              <a:ext cx="9545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 layer</a:t>
              </a:r>
              <a:endPara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6A66054-945F-201D-32AC-61B543A7E7E9}"/>
                </a:ext>
              </a:extLst>
            </p:cNvPr>
            <p:cNvSpPr txBox="1"/>
            <p:nvPr/>
          </p:nvSpPr>
          <p:spPr>
            <a:xfrm>
              <a:off x="2842654" y="4419637"/>
              <a:ext cx="4202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=7</a:t>
              </a:r>
              <a:endPara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7902B1DA-1FE4-9F50-A5BB-01BD35939B09}"/>
                </a:ext>
              </a:extLst>
            </p:cNvPr>
            <p:cNvSpPr txBox="1"/>
            <p:nvPr/>
          </p:nvSpPr>
          <p:spPr>
            <a:xfrm>
              <a:off x="4171692" y="4419637"/>
              <a:ext cx="4202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=4</a:t>
              </a:r>
              <a:endPara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D5E387E-EDE3-195B-BA2C-A42D358F2495}"/>
                </a:ext>
              </a:extLst>
            </p:cNvPr>
            <p:cNvSpPr txBox="1"/>
            <p:nvPr/>
          </p:nvSpPr>
          <p:spPr>
            <a:xfrm>
              <a:off x="5519775" y="3669168"/>
              <a:ext cx="4202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=1</a:t>
              </a:r>
              <a:endPara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AD38210B-9929-9EAA-F1C8-C6A3C49BE31D}"/>
                </a:ext>
              </a:extLst>
            </p:cNvPr>
            <p:cNvCxnSpPr>
              <a:cxnSpLocks/>
              <a:stCxn id="10" idx="3"/>
              <a:endCxn id="6" idx="2"/>
            </p:cNvCxnSpPr>
            <p:nvPr/>
          </p:nvCxnSpPr>
          <p:spPr>
            <a:xfrm flipV="1">
              <a:off x="2497830" y="2658824"/>
              <a:ext cx="349480" cy="39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241B3C3A-510D-3EFE-36E0-3D0FE7D77CA6}"/>
                </a:ext>
              </a:extLst>
            </p:cNvPr>
            <p:cNvCxnSpPr>
              <a:cxnSpLocks/>
              <a:stCxn id="11" idx="3"/>
              <a:endCxn id="7" idx="2"/>
            </p:cNvCxnSpPr>
            <p:nvPr/>
          </p:nvCxnSpPr>
          <p:spPr>
            <a:xfrm>
              <a:off x="2497830" y="3172920"/>
              <a:ext cx="3494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ACFD5E1C-0E79-9305-BB7C-019B43FD6007}"/>
                </a:ext>
              </a:extLst>
            </p:cNvPr>
            <p:cNvCxnSpPr>
              <a:cxnSpLocks/>
              <a:stCxn id="13" idx="3"/>
              <a:endCxn id="8" idx="2"/>
            </p:cNvCxnSpPr>
            <p:nvPr/>
          </p:nvCxnSpPr>
          <p:spPr>
            <a:xfrm>
              <a:off x="2497830" y="3677631"/>
              <a:ext cx="3494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533034E3-501A-628C-CF53-9091114D6DB2}"/>
                </a:ext>
              </a:extLst>
            </p:cNvPr>
            <p:cNvCxnSpPr>
              <a:cxnSpLocks/>
              <a:stCxn id="12" idx="3"/>
              <a:endCxn id="9" idx="2"/>
            </p:cNvCxnSpPr>
            <p:nvPr/>
          </p:nvCxnSpPr>
          <p:spPr>
            <a:xfrm>
              <a:off x="2497830" y="4189936"/>
              <a:ext cx="3494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CD0C4800-D517-5020-1A38-DA9D7519F56A}"/>
                </a:ext>
              </a:extLst>
            </p:cNvPr>
            <p:cNvCxnSpPr>
              <a:cxnSpLocks/>
              <a:stCxn id="20" idx="6"/>
              <a:endCxn id="21" idx="1"/>
            </p:cNvCxnSpPr>
            <p:nvPr/>
          </p:nvCxnSpPr>
          <p:spPr>
            <a:xfrm>
              <a:off x="5887279" y="3447677"/>
              <a:ext cx="40163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FE8489F-B77E-0CE4-B31B-B047F91F82CA}"/>
                </a:ext>
              </a:extLst>
            </p:cNvPr>
            <p:cNvSpPr txBox="1"/>
            <p:nvPr/>
          </p:nvSpPr>
          <p:spPr>
            <a:xfrm>
              <a:off x="4147807" y="2546009"/>
              <a:ext cx="468000" cy="21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endPara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5B03EF62-50D3-671F-B730-2EFEC3ABB54F}"/>
                </a:ext>
              </a:extLst>
            </p:cNvPr>
            <p:cNvSpPr txBox="1"/>
            <p:nvPr/>
          </p:nvSpPr>
          <p:spPr>
            <a:xfrm>
              <a:off x="4147807" y="4085801"/>
              <a:ext cx="468000" cy="21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endPara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45BE6860-3E19-35DA-FA1C-EFFCCBE39FD5}"/>
                </a:ext>
              </a:extLst>
            </p:cNvPr>
            <p:cNvSpPr txBox="1"/>
            <p:nvPr/>
          </p:nvSpPr>
          <p:spPr>
            <a:xfrm>
              <a:off x="4147807" y="3067780"/>
              <a:ext cx="468000" cy="21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endPara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9A92E864-FD32-2AA2-2155-5F0B9E6B55BA}"/>
                </a:ext>
              </a:extLst>
            </p:cNvPr>
            <p:cNvSpPr txBox="1"/>
            <p:nvPr/>
          </p:nvSpPr>
          <p:spPr>
            <a:xfrm>
              <a:off x="4143363" y="3571851"/>
              <a:ext cx="468000" cy="216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ReLU</a:t>
              </a:r>
              <a:endParaRPr lang="zh-CN" alt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2473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C77FECC5-DB9B-7F9C-F9AA-778AD74B50C5}"/>
              </a:ext>
            </a:extLst>
          </p:cNvPr>
          <p:cNvSpPr/>
          <p:nvPr/>
        </p:nvSpPr>
        <p:spPr>
          <a:xfrm>
            <a:off x="2035632" y="1078491"/>
            <a:ext cx="2471272" cy="5005820"/>
          </a:xfrm>
          <a:prstGeom prst="roundRect">
            <a:avLst>
              <a:gd name="adj" fmla="val 5260"/>
            </a:avLst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63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2BD4F49-F457-8510-BE64-CBD2E32A877A}"/>
              </a:ext>
            </a:extLst>
          </p:cNvPr>
          <p:cNvSpPr/>
          <p:nvPr/>
        </p:nvSpPr>
        <p:spPr>
          <a:xfrm>
            <a:off x="4784390" y="1078490"/>
            <a:ext cx="4480662" cy="5005821"/>
          </a:xfrm>
          <a:prstGeom prst="roundRect">
            <a:avLst>
              <a:gd name="adj" fmla="val 2533"/>
            </a:avLst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63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17A592-9BAF-985A-80B9-3769B3E8F7C3}"/>
              </a:ext>
            </a:extLst>
          </p:cNvPr>
          <p:cNvSpPr/>
          <p:nvPr/>
        </p:nvSpPr>
        <p:spPr>
          <a:xfrm>
            <a:off x="7399209" y="1658423"/>
            <a:ext cx="1685553" cy="4229619"/>
          </a:xfrm>
          <a:prstGeom prst="rect">
            <a:avLst/>
          </a:prstGeom>
          <a:solidFill>
            <a:srgbClr val="FFE69B"/>
          </a:solidFill>
          <a:ln w="19050">
            <a:solidFill>
              <a:srgbClr val="CCA42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68685E-F422-9E75-7CDD-0CC786217B7E}"/>
              </a:ext>
            </a:extLst>
          </p:cNvPr>
          <p:cNvSpPr/>
          <p:nvPr/>
        </p:nvSpPr>
        <p:spPr>
          <a:xfrm>
            <a:off x="2220925" y="3124200"/>
            <a:ext cx="2097750" cy="2763841"/>
          </a:xfrm>
          <a:prstGeom prst="rect">
            <a:avLst/>
          </a:prstGeom>
          <a:solidFill>
            <a:srgbClr val="EEF7E9"/>
          </a:solidFill>
          <a:ln w="190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0E52AA-BA30-05DC-908C-E9101CFE506C}"/>
              </a:ext>
            </a:extLst>
          </p:cNvPr>
          <p:cNvSpPr/>
          <p:nvPr/>
        </p:nvSpPr>
        <p:spPr>
          <a:xfrm>
            <a:off x="2220925" y="1658424"/>
            <a:ext cx="2097750" cy="1035274"/>
          </a:xfrm>
          <a:prstGeom prst="rect">
            <a:avLst/>
          </a:prstGeom>
          <a:solidFill>
            <a:srgbClr val="9DC3E7"/>
          </a:solidFill>
          <a:ln w="19050">
            <a:solidFill>
              <a:srgbClr val="0460A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C24E75-CEBA-A388-70F5-29F88A6D8218}"/>
              </a:ext>
            </a:extLst>
          </p:cNvPr>
          <p:cNvSpPr/>
          <p:nvPr/>
        </p:nvSpPr>
        <p:spPr>
          <a:xfrm>
            <a:off x="4952017" y="1658423"/>
            <a:ext cx="2169706" cy="4229617"/>
          </a:xfrm>
          <a:prstGeom prst="rect">
            <a:avLst/>
          </a:prstGeom>
          <a:solidFill>
            <a:srgbClr val="F9CBAE"/>
          </a:solidFill>
          <a:ln w="19050">
            <a:solidFill>
              <a:srgbClr val="B5673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52811A-E8DD-AF9B-3251-19F2097F1D70}"/>
              </a:ext>
            </a:extLst>
          </p:cNvPr>
          <p:cNvSpPr txBox="1"/>
          <p:nvPr/>
        </p:nvSpPr>
        <p:spPr>
          <a:xfrm>
            <a:off x="2508635" y="3713840"/>
            <a:ext cx="1515600" cy="442674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Best-found initial weights and biases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801A58-1574-CD02-B361-182619168DAF}"/>
              </a:ext>
            </a:extLst>
          </p:cNvPr>
          <p:cNvSpPr txBox="1"/>
          <p:nvPr/>
        </p:nvSpPr>
        <p:spPr>
          <a:xfrm>
            <a:off x="2507479" y="4521594"/>
            <a:ext cx="1515600" cy="442674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 fine-tuning Adam · squared error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F19394-BDB3-2664-4EEA-E4EA4F6E433D}"/>
              </a:ext>
            </a:extLst>
          </p:cNvPr>
          <p:cNvSpPr txBox="1"/>
          <p:nvPr/>
        </p:nvSpPr>
        <p:spPr>
          <a:xfrm>
            <a:off x="2507479" y="2091475"/>
            <a:ext cx="1548000" cy="44267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60A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 7-4-1 network topology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F46C40-99B1-BEAA-2C21-5AE04156D58C}"/>
              </a:ext>
            </a:extLst>
          </p:cNvPr>
          <p:cNvSpPr txBox="1"/>
          <p:nvPr/>
        </p:nvSpPr>
        <p:spPr>
          <a:xfrm>
            <a:off x="5402196" y="2421400"/>
            <a:ext cx="1548000" cy="27241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6733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Initialize </a:t>
            </a:r>
            <a:r>
              <a:rPr lang="en-US" altLang="zh-CN" dirty="0"/>
              <a:t>population n=80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265ED6-CB7A-0EC0-0C45-00BE3048C5FB}"/>
              </a:ext>
            </a:extLst>
          </p:cNvPr>
          <p:cNvSpPr txBox="1"/>
          <p:nvPr/>
        </p:nvSpPr>
        <p:spPr>
          <a:xfrm>
            <a:off x="2347279" y="1660208"/>
            <a:ext cx="1836000" cy="360000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definition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080099-4C5C-0376-BB5D-B22C83873532}"/>
              </a:ext>
            </a:extLst>
          </p:cNvPr>
          <p:cNvSpPr txBox="1"/>
          <p:nvPr/>
        </p:nvSpPr>
        <p:spPr>
          <a:xfrm>
            <a:off x="7521985" y="3275176"/>
            <a:ext cx="1440000" cy="44267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A42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Tournament selection k=3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74E66F2-5D75-3163-09C9-14B3B202F35F}"/>
                  </a:ext>
                </a:extLst>
              </p:cNvPr>
              <p:cNvSpPr txBox="1"/>
              <p:nvPr/>
            </p:nvSpPr>
            <p:spPr>
              <a:xfrm>
                <a:off x="7521985" y="3959899"/>
                <a:ext cx="1440000" cy="442674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CCA42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Two-point crossover</a:t>
                </a:r>
                <a:r>
                  <a: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1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</m:t>
                    </m:r>
                    <m:r>
                      <a:rPr lang="en-US" altLang="zh-CN" sz="1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80</m:t>
                    </m:r>
                  </m:oMath>
                </a14:m>
                <a:endPara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74E66F2-5D75-3163-09C9-14B3B202F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1985" y="3959899"/>
                <a:ext cx="1440000" cy="44267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CCA42D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FBC72C6-5777-9586-6687-DADB234C6935}"/>
                  </a:ext>
                </a:extLst>
              </p:cNvPr>
              <p:cNvSpPr txBox="1"/>
              <p:nvPr/>
            </p:nvSpPr>
            <p:spPr>
              <a:xfrm>
                <a:off x="7521985" y="4644622"/>
                <a:ext cx="1440000" cy="442674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CCA42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Gaussian mutation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1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=0.15</m:t>
                    </m:r>
                  </m:oMath>
                </a14:m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FBC72C6-5777-9586-6687-DADB234C6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1985" y="4644622"/>
                <a:ext cx="1440000" cy="44267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CA42D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7378A93-FE78-F9A1-5084-BE42BC89111D}"/>
                  </a:ext>
                </a:extLst>
              </p:cNvPr>
              <p:cNvSpPr txBox="1"/>
              <p:nvPr/>
            </p:nvSpPr>
            <p:spPr>
              <a:xfrm>
                <a:off x="7521985" y="2608188"/>
                <a:ext cx="1440000" cy="424939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CCA42D"/>
                </a:solidFill>
                <a:prstDash val="dash"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0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7378A93-FE78-F9A1-5084-BE42BC891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1985" y="2608188"/>
                <a:ext cx="1440000" cy="42493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CCA42D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98D01CC5-3D78-6234-5C10-652B9355BF4F}"/>
              </a:ext>
            </a:extLst>
          </p:cNvPr>
          <p:cNvSpPr txBox="1"/>
          <p:nvPr/>
        </p:nvSpPr>
        <p:spPr>
          <a:xfrm>
            <a:off x="6340721" y="1171300"/>
            <a:ext cx="1368000" cy="338554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 search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F6FFD95-3F0F-04A5-6B09-87A5463D9830}"/>
              </a:ext>
            </a:extLst>
          </p:cNvPr>
          <p:cNvSpPr txBox="1"/>
          <p:nvPr/>
        </p:nvSpPr>
        <p:spPr>
          <a:xfrm>
            <a:off x="5402196" y="2911532"/>
            <a:ext cx="1548000" cy="27241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6733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Decode chromosome</a:t>
            </a:r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AB81E65-6228-BFB1-4A83-FCD7D024DDD0}"/>
              </a:ext>
            </a:extLst>
          </p:cNvPr>
          <p:cNvSpPr txBox="1"/>
          <p:nvPr/>
        </p:nvSpPr>
        <p:spPr>
          <a:xfrm>
            <a:off x="5402196" y="4062055"/>
            <a:ext cx="1548000" cy="27241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67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pinball  loss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流程图: 决策 19">
            <a:extLst>
              <a:ext uri="{FF2B5EF4-FFF2-40B4-BE49-F238E27FC236}">
                <a16:creationId xmlns:a16="http://schemas.microsoft.com/office/drawing/2014/main" id="{7F15F8A0-8B27-C33C-5DEA-1B99B2EFE5EC}"/>
              </a:ext>
            </a:extLst>
          </p:cNvPr>
          <p:cNvSpPr/>
          <p:nvPr/>
        </p:nvSpPr>
        <p:spPr>
          <a:xfrm>
            <a:off x="5402196" y="4869029"/>
            <a:ext cx="1548000" cy="583665"/>
          </a:xfrm>
          <a:prstGeom prst="flowChartDecision">
            <a:avLst/>
          </a:prstGeom>
          <a:solidFill>
            <a:srgbClr val="FFFFFF"/>
          </a:solidFill>
          <a:ln w="19050">
            <a:solidFill>
              <a:srgbClr val="B567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2A429C5-9192-C35E-C097-9062D08AE684}"/>
              </a:ext>
            </a:extLst>
          </p:cNvPr>
          <p:cNvSpPr txBox="1"/>
          <p:nvPr/>
        </p:nvSpPr>
        <p:spPr>
          <a:xfrm>
            <a:off x="5402196" y="5045445"/>
            <a:ext cx="154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 generation reached?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DBDCCCF-2263-41A6-C9EA-983D9D6CAC52}"/>
              </a:ext>
            </a:extLst>
          </p:cNvPr>
          <p:cNvSpPr txBox="1"/>
          <p:nvPr/>
        </p:nvSpPr>
        <p:spPr>
          <a:xfrm>
            <a:off x="6177622" y="4671634"/>
            <a:ext cx="376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41BC17-8715-CBE4-E9EE-E77A20DFD617}"/>
              </a:ext>
            </a:extLst>
          </p:cNvPr>
          <p:cNvSpPr txBox="1"/>
          <p:nvPr/>
        </p:nvSpPr>
        <p:spPr>
          <a:xfrm>
            <a:off x="4956801" y="4922333"/>
            <a:ext cx="4377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E1C5C86-A2E1-8B5B-AA4A-67FBEA29A5BD}"/>
              </a:ext>
            </a:extLst>
          </p:cNvPr>
          <p:cNvSpPr txBox="1"/>
          <p:nvPr/>
        </p:nvSpPr>
        <p:spPr>
          <a:xfrm>
            <a:off x="5402196" y="1761009"/>
            <a:ext cx="1548000" cy="44267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6733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Encode weights and biases as chromosomes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CB6882B-13A8-1725-89E2-885A33B4B027}"/>
              </a:ext>
            </a:extLst>
          </p:cNvPr>
          <p:cNvSpPr txBox="1"/>
          <p:nvPr/>
        </p:nvSpPr>
        <p:spPr>
          <a:xfrm>
            <a:off x="5402196" y="3401664"/>
            <a:ext cx="1548000" cy="44267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6733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Forward prediction on training fold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1D4D9EF-BE02-11C5-1737-F778CC567C1B}"/>
              </a:ext>
            </a:extLst>
          </p:cNvPr>
          <p:cNvSpPr txBox="1"/>
          <p:nvPr/>
        </p:nvSpPr>
        <p:spPr>
          <a:xfrm>
            <a:off x="2508635" y="5329347"/>
            <a:ext cx="1515600" cy="442674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Held-out project cost prediction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60C0410-5DE8-03CD-2991-722D75EA194A}"/>
                  </a:ext>
                </a:extLst>
              </p:cNvPr>
              <p:cNvSpPr txBox="1"/>
              <p:nvPr/>
            </p:nvSpPr>
            <p:spPr>
              <a:xfrm>
                <a:off x="7521985" y="1761009"/>
                <a:ext cx="1440000" cy="605130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rgbClr val="CCA42D"/>
                </a:solidFill>
                <a:prstDash val="dash"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0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𝑚𝑎𝑥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</m:func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func>
                        <m:func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𝑚𝑎𝑥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60C0410-5DE8-03CD-2991-722D75EA1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1985" y="1761009"/>
                <a:ext cx="1440000" cy="60513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CCA42D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D5433C56-B35C-E704-3551-13439FC9FD16}"/>
              </a:ext>
            </a:extLst>
          </p:cNvPr>
          <p:cNvSpPr txBox="1"/>
          <p:nvPr/>
        </p:nvSpPr>
        <p:spPr>
          <a:xfrm>
            <a:off x="2347279" y="3122207"/>
            <a:ext cx="1836000" cy="58477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 training after GA initialization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33E1510-2BEB-BC81-3F59-0B091153643D}"/>
              </a:ext>
            </a:extLst>
          </p:cNvPr>
          <p:cNvCxnSpPr>
            <a:cxnSpLocks/>
            <a:stCxn id="24" idx="2"/>
            <a:endCxn id="11" idx="0"/>
          </p:cNvCxnSpPr>
          <p:nvPr/>
        </p:nvCxnSpPr>
        <p:spPr>
          <a:xfrm>
            <a:off x="6176196" y="2203683"/>
            <a:ext cx="0" cy="217717"/>
          </a:xfrm>
          <a:prstGeom prst="straightConnector1">
            <a:avLst/>
          </a:prstGeom>
          <a:ln w="19050">
            <a:solidFill>
              <a:srgbClr val="B567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219E269-39E6-89C7-BB26-A78213757F31}"/>
              </a:ext>
            </a:extLst>
          </p:cNvPr>
          <p:cNvCxnSpPr>
            <a:cxnSpLocks/>
            <a:stCxn id="18" idx="2"/>
            <a:endCxn id="25" idx="0"/>
          </p:cNvCxnSpPr>
          <p:nvPr/>
        </p:nvCxnSpPr>
        <p:spPr>
          <a:xfrm>
            <a:off x="6176196" y="3183947"/>
            <a:ext cx="0" cy="217717"/>
          </a:xfrm>
          <a:prstGeom prst="straightConnector1">
            <a:avLst/>
          </a:prstGeom>
          <a:ln w="19050">
            <a:solidFill>
              <a:srgbClr val="B567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EA951A2-2961-89A6-BC04-AC9351389241}"/>
              </a:ext>
            </a:extLst>
          </p:cNvPr>
          <p:cNvCxnSpPr>
            <a:cxnSpLocks/>
            <a:stCxn id="25" idx="2"/>
            <a:endCxn id="19" idx="0"/>
          </p:cNvCxnSpPr>
          <p:nvPr/>
        </p:nvCxnSpPr>
        <p:spPr>
          <a:xfrm>
            <a:off x="6176196" y="3844338"/>
            <a:ext cx="0" cy="217717"/>
          </a:xfrm>
          <a:prstGeom prst="straightConnector1">
            <a:avLst/>
          </a:prstGeom>
          <a:ln w="19050">
            <a:solidFill>
              <a:srgbClr val="B567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7721D57-3275-F764-FCFC-9DF263E6781A}"/>
              </a:ext>
            </a:extLst>
          </p:cNvPr>
          <p:cNvCxnSpPr>
            <a:cxnSpLocks/>
            <a:stCxn id="27" idx="2"/>
            <a:endCxn id="16" idx="0"/>
          </p:cNvCxnSpPr>
          <p:nvPr/>
        </p:nvCxnSpPr>
        <p:spPr>
          <a:xfrm>
            <a:off x="8241985" y="2366139"/>
            <a:ext cx="0" cy="242049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F381F4A-E343-1D7A-1652-DB5876499D5D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>
            <a:off x="8241985" y="3033127"/>
            <a:ext cx="0" cy="242049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68FB61F-894E-6CEC-EEB6-37554A4D44F3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8241985" y="3717850"/>
            <a:ext cx="0" cy="242049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F4AF3DD-E097-417E-54DF-86BDA5A2E497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241985" y="4402573"/>
            <a:ext cx="0" cy="242049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EE2164AF-F06A-73E7-065D-50C4CFFBBFFC}"/>
              </a:ext>
            </a:extLst>
          </p:cNvPr>
          <p:cNvCxnSpPr>
            <a:cxnSpLocks/>
            <a:stCxn id="39" idx="1"/>
            <a:endCxn id="21" idx="3"/>
          </p:cNvCxnSpPr>
          <p:nvPr/>
        </p:nvCxnSpPr>
        <p:spPr>
          <a:xfrm rot="10800000">
            <a:off x="6950197" y="5160862"/>
            <a:ext cx="571789" cy="389823"/>
          </a:xfrm>
          <a:prstGeom prst="bentConnector3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F2454B08-DBDC-F42B-0512-E2D195636942}"/>
              </a:ext>
            </a:extLst>
          </p:cNvPr>
          <p:cNvCxnSpPr>
            <a:cxnSpLocks/>
            <a:stCxn id="20" idx="0"/>
            <a:endCxn id="18" idx="1"/>
          </p:cNvCxnSpPr>
          <p:nvPr/>
        </p:nvCxnSpPr>
        <p:spPr>
          <a:xfrm rot="16200000" flipV="1">
            <a:off x="4878552" y="3571385"/>
            <a:ext cx="1821289" cy="774000"/>
          </a:xfrm>
          <a:prstGeom prst="bentConnector4">
            <a:avLst>
              <a:gd name="adj1" fmla="val 17392"/>
              <a:gd name="adj2" fmla="val 129535"/>
            </a:avLst>
          </a:prstGeom>
          <a:ln w="19050">
            <a:solidFill>
              <a:srgbClr val="B567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926B2BA7-AAFE-51AC-1E50-C7B3AE90852B}"/>
              </a:ext>
            </a:extLst>
          </p:cNvPr>
          <p:cNvCxnSpPr>
            <a:cxnSpLocks/>
            <a:stCxn id="20" idx="1"/>
            <a:endCxn id="8" idx="3"/>
          </p:cNvCxnSpPr>
          <p:nvPr/>
        </p:nvCxnSpPr>
        <p:spPr>
          <a:xfrm rot="10800000">
            <a:off x="4024236" y="3935178"/>
            <a:ext cx="1377961" cy="1225685"/>
          </a:xfrm>
          <a:prstGeom prst="bentConnector3">
            <a:avLst>
              <a:gd name="adj1" fmla="val 50000"/>
            </a:avLst>
          </a:prstGeom>
          <a:ln w="19050">
            <a:solidFill>
              <a:srgbClr val="B567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B29ABFCC-0B7D-4FE3-2B61-3675F49C4395}"/>
              </a:ext>
            </a:extLst>
          </p:cNvPr>
          <p:cNvSpPr txBox="1"/>
          <p:nvPr/>
        </p:nvSpPr>
        <p:spPr>
          <a:xfrm>
            <a:off x="7521985" y="5329347"/>
            <a:ext cx="1440000" cy="44267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A42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population ; increment counter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3ABBADB-A985-FAAE-419A-598CCCC3B297}"/>
              </a:ext>
            </a:extLst>
          </p:cNvPr>
          <p:cNvCxnSpPr>
            <a:cxnSpLocks/>
            <a:stCxn id="15" idx="2"/>
            <a:endCxn id="39" idx="0"/>
          </p:cNvCxnSpPr>
          <p:nvPr/>
        </p:nvCxnSpPr>
        <p:spPr>
          <a:xfrm>
            <a:off x="8241985" y="5087296"/>
            <a:ext cx="0" cy="242051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60EB9041-16B4-709C-F445-F4D6BC75BC24}"/>
              </a:ext>
            </a:extLst>
          </p:cNvPr>
          <p:cNvCxnSpPr>
            <a:stCxn id="11" idx="2"/>
            <a:endCxn id="18" idx="0"/>
          </p:cNvCxnSpPr>
          <p:nvPr/>
        </p:nvCxnSpPr>
        <p:spPr>
          <a:xfrm>
            <a:off x="6176196" y="2693815"/>
            <a:ext cx="0" cy="217717"/>
          </a:xfrm>
          <a:prstGeom prst="straightConnector1">
            <a:avLst/>
          </a:prstGeom>
          <a:ln w="19050">
            <a:solidFill>
              <a:srgbClr val="B567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C38563FB-0073-D111-2579-BD17A22A6C04}"/>
              </a:ext>
            </a:extLst>
          </p:cNvPr>
          <p:cNvSpPr txBox="1"/>
          <p:nvPr/>
        </p:nvSpPr>
        <p:spPr>
          <a:xfrm>
            <a:off x="2533268" y="1171300"/>
            <a:ext cx="1476000" cy="360000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 component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37799D7-8E41-87C9-529D-C4DA9967B44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3265279" y="4156514"/>
            <a:ext cx="1156" cy="36508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BE87B629-0B38-4B84-37C1-BE5CEA667128}"/>
              </a:ext>
            </a:extLst>
          </p:cNvPr>
          <p:cNvCxnSpPr>
            <a:cxnSpLocks/>
            <a:stCxn id="9" idx="2"/>
            <a:endCxn id="26" idx="0"/>
          </p:cNvCxnSpPr>
          <p:nvPr/>
        </p:nvCxnSpPr>
        <p:spPr>
          <a:xfrm>
            <a:off x="3265279" y="4964268"/>
            <a:ext cx="1156" cy="36507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4CCD884B-1763-3E3D-19EA-E79FD59D4166}"/>
              </a:ext>
            </a:extLst>
          </p:cNvPr>
          <p:cNvCxnSpPr>
            <a:stCxn id="10" idx="3"/>
            <a:endCxn id="24" idx="1"/>
          </p:cNvCxnSpPr>
          <p:nvPr/>
        </p:nvCxnSpPr>
        <p:spPr>
          <a:xfrm flipV="1">
            <a:off x="4055479" y="1982346"/>
            <a:ext cx="1346717" cy="330466"/>
          </a:xfrm>
          <a:prstGeom prst="bentConnector3">
            <a:avLst>
              <a:gd name="adj1" fmla="val 46039"/>
            </a:avLst>
          </a:prstGeom>
          <a:ln w="19050">
            <a:solidFill>
              <a:srgbClr val="0973C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B0146593-5A22-8D61-B671-117008837AF4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 flipV="1">
            <a:off x="6950196" y="2063574"/>
            <a:ext cx="571789" cy="2134689"/>
          </a:xfrm>
          <a:prstGeom prst="bentConnector3">
            <a:avLst>
              <a:gd name="adj1" fmla="val 50000"/>
            </a:avLst>
          </a:prstGeom>
          <a:ln w="19050">
            <a:solidFill>
              <a:srgbClr val="B567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箭头: 下 46">
            <a:extLst>
              <a:ext uri="{FF2B5EF4-FFF2-40B4-BE49-F238E27FC236}">
                <a16:creationId xmlns:a16="http://schemas.microsoft.com/office/drawing/2014/main" id="{4D2300F4-629B-3825-8663-C5DBDAEE1B25}"/>
              </a:ext>
            </a:extLst>
          </p:cNvPr>
          <p:cNvSpPr/>
          <p:nvPr/>
        </p:nvSpPr>
        <p:spPr>
          <a:xfrm>
            <a:off x="3080344" y="2741119"/>
            <a:ext cx="369869" cy="35438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DC4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827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191</Words>
  <Application>Microsoft Office PowerPoint</Application>
  <PresentationFormat>宽屏</PresentationFormat>
  <Paragraphs>66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丽萍 米</dc:creator>
  <cp:lastModifiedBy>丽萍 米</cp:lastModifiedBy>
  <cp:revision>1</cp:revision>
  <dcterms:created xsi:type="dcterms:W3CDTF">2026-09-09T11:48:13Z</dcterms:created>
  <dcterms:modified xsi:type="dcterms:W3CDTF">2026-09-09T12:15:24Z</dcterms:modified>
</cp:coreProperties>
</file>